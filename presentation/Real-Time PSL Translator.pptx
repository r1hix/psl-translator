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semester project, I’m building a real-time translator for Pakistani Sign Language. If you look at existing student projects, almost all of them cheat by just classifying static photos of the alphabet. Real people don’t spell out letters when they talk—they use fluid gestures. My goal over the next 12 weeks is to build a tool where someone signs naturally into a standard laptop webcam, and the system instantly speaks out the translation in 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technical trap in computer vision is feeding raw video pixels into a model—it breaks the second you move to a different room, change the lighting, or wear a watch. My approach completely bypasses this: I use MediaPipe to strip away the background and convert the signer into pure 3D skeletal coordinates. Then, I feed those moving joint graphs into a Spatial-Temporal Graph Neural Network to classify the motion. It’s lightweight, fast, and works in any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next 12 weeks, I’m keeping the scope realistic. I’ll focus on 15 to 20 dynamic signs that matter in everyday life, like greetings, emergencies, and basic needs. The data comes from the Deaf Reach Pakistan portal and academic PSL datasets. I’ll train the model on my desktop GPU, a GTX 1660 Super, and run it live on my MacBook Pro at 30+ FPS. At the end, I’ll do a live demo in class: I sign a full phrase to the laptop and it speaks the Urdu translation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0F1B2D"/>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55750"/>
            <a:ext cx="10566400" cy="4489450"/>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0F1B2D"/>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55750"/>
            <a:ext cx="10566400" cy="4489450"/>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12775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6B"/>
                </a:solidFill>
                <a:latin typeface="DM Sans" pitchFamily="34" charset="0"/>
                <a:ea typeface="DM Sans" pitchFamily="34" charset="-122"/>
                <a:cs typeface="DM Sans" pitchFamily="34" charset="-120"/>
              </a:rPr>
              <a:t>THE IDEA AND THE PROBLEM</a:t>
            </a:r>
            <a:endParaRPr lang="en-US" sz="1200" dirty="0"/>
          </a:p>
        </p:txBody>
      </p:sp>
      <p:sp>
        <p:nvSpPr>
          <p:cNvPr id="3" name="Text 1"/>
          <p:cNvSpPr/>
          <p:nvPr>
            <p:ph type="title"/>
          </p:nvPr>
        </p:nvSpPr>
        <p:spPr>
          <a:xfrm>
            <a:off x="812800" y="1178560"/>
            <a:ext cx="5127752" cy="161798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0F1B2D"/>
                </a:solidFill>
                <a:latin typeface="Rubik" pitchFamily="34" charset="0"/>
                <a:ea typeface="Rubik" pitchFamily="34" charset="-122"/>
                <a:cs typeface="Rubik" pitchFamily="34" charset="-120"/>
              </a:rPr>
              <a:t>Real-Time Pakistani Sign Language (PSL) Translator</a:t>
            </a:r>
            <a:endParaRPr lang="en-US" sz="3800" dirty="0"/>
          </a:p>
        </p:txBody>
      </p:sp>
      <p:sp>
        <p:nvSpPr>
          <p:cNvPr id="4" name="Text 2"/>
          <p:cNvSpPr/>
          <p:nvPr/>
        </p:nvSpPr>
        <p:spPr>
          <a:xfrm>
            <a:off x="812800" y="2923540"/>
            <a:ext cx="512775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A5E"/>
                </a:solidFill>
                <a:latin typeface="DM Sans" pitchFamily="34" charset="0"/>
                <a:ea typeface="DM Sans" pitchFamily="34" charset="-122"/>
                <a:cs typeface="DM Sans" pitchFamily="34" charset="-120"/>
              </a:rPr>
              <a:t>Bringing assistive AI to 1.5 million+ deaf individuals in Pakistan</a:t>
            </a:r>
            <a:endParaRPr lang="en-US" sz="1600" dirty="0"/>
          </a:p>
        </p:txBody>
      </p:sp>
      <p:sp>
        <p:nvSpPr>
          <p:cNvPr id="5" name="Text 3"/>
          <p:cNvSpPr/>
          <p:nvPr/>
        </p:nvSpPr>
        <p:spPr>
          <a:xfrm>
            <a:off x="819150" y="5538470"/>
            <a:ext cx="2062268" cy="500380"/>
          </a:xfrm>
          <a:prstGeom prst="roundRect">
            <a:avLst>
              <a:gd name="adj" fmla="val 49492"/>
            </a:avLst>
          </a:prstGeom>
          <a:solidFill>
            <a:srgbClr val="FDFCF8"/>
          </a:solidFill>
          <a:ln w="12700">
            <a:solidFill>
              <a:srgbClr val="0E7C6B"/>
            </a:solidFill>
            <a:prstDash val="solid"/>
          </a:ln>
        </p:spPr>
        <p:txBody>
          <a:bodyPr wrap="none" lIns="0" tIns="0" rIns="0" bIns="0" rtlCol="0" anchor="ctr">
            <a:normAutofit/>
          </a:bodyPr>
          <a:lstStyle/>
          <a:p>
            <a:pPr algn="ctr" indent="0" marL="0">
              <a:lnSpc>
                <a:spcPts val="2240"/>
              </a:lnSpc>
              <a:buNone/>
            </a:pPr>
            <a:r>
              <a:rPr lang="en-US" sz="1600" b="1" dirty="0">
                <a:solidFill>
                  <a:srgbClr val="0F1B2D"/>
                </a:solidFill>
                <a:latin typeface="DM Sans" pitchFamily="34" charset="0"/>
                <a:ea typeface="DM Sans" pitchFamily="34" charset="-122"/>
                <a:cs typeface="DM Sans" pitchFamily="34" charset="-120"/>
              </a:rPr>
              <a:t>Webcam gesture</a:t>
            </a:r>
            <a:endParaRPr lang="en-US" sz="1600" dirty="0"/>
          </a:p>
        </p:txBody>
      </p:sp>
      <p:pic>
        <p:nvPicPr>
          <p:cNvPr id="6" name="Image 0" descr="arrow-right">    </p:cNvPr>
          <p:cNvPicPr>
            <a:picLocks noChangeAspect="1"/>
          </p:cNvPicPr>
          <p:nvPr/>
        </p:nvPicPr>
        <p:blipFill>
          <a:blip r:embed="rId1"/>
          <a:srcRect l="0" r="0" t="0" b="0"/>
          <a:stretch/>
        </p:blipFill>
        <p:spPr>
          <a:xfrm>
            <a:off x="3040168" y="5699760"/>
            <a:ext cx="355600" cy="177800"/>
          </a:xfrm>
          <a:prstGeom prst="rect">
            <a:avLst/>
          </a:prstGeom>
        </p:spPr>
      </p:pic>
      <p:sp>
        <p:nvSpPr>
          <p:cNvPr id="7" name="Text 4"/>
          <p:cNvSpPr/>
          <p:nvPr/>
        </p:nvSpPr>
        <p:spPr>
          <a:xfrm>
            <a:off x="3548168" y="5544820"/>
            <a:ext cx="1616816" cy="487680"/>
          </a:xfrm>
          <a:prstGeom prst="roundRect">
            <a:avLst>
              <a:gd name="adj" fmla="val 50000"/>
            </a:avLst>
          </a:prstGeom>
          <a:solidFill>
            <a:srgbClr val="0F1B2D"/>
          </a:solidFill>
          <a:ln/>
        </p:spPr>
        <p:txBody>
          <a:bodyPr wrap="none" lIns="0" tIns="0" rIns="0" bIns="0" rtlCol="0" anchor="ctr">
            <a:normAutofit/>
          </a:bodyPr>
          <a:lstStyle/>
          <a:p>
            <a:pPr algn="ctr" indent="0" marL="0">
              <a:lnSpc>
                <a:spcPts val="2240"/>
              </a:lnSpc>
              <a:buNone/>
            </a:pPr>
            <a:r>
              <a:rPr lang="en-US" sz="1600" b="1" dirty="0">
                <a:solidFill>
                  <a:srgbClr val="F6F4EE"/>
                </a:solidFill>
                <a:latin typeface="DM Sans" pitchFamily="34" charset="0"/>
                <a:ea typeface="DM Sans" pitchFamily="34" charset="-122"/>
                <a:cs typeface="DM Sans" pitchFamily="34" charset="-120"/>
              </a:rPr>
              <a:t>Urdu speech</a:t>
            </a:r>
            <a:endParaRPr lang="en-US" sz="1600" dirty="0"/>
          </a:p>
        </p:txBody>
      </p:sp>
      <p:sp>
        <p:nvSpPr>
          <p:cNvPr id="8" name="Shape 5"/>
          <p:cNvSpPr/>
          <p:nvPr/>
        </p:nvSpPr>
        <p:spPr>
          <a:xfrm>
            <a:off x="6400800" y="1447800"/>
            <a:ext cx="4978400" cy="1076960"/>
          </a:xfrm>
          <a:prstGeom prst="roundRect">
            <a:avLst>
              <a:gd name="adj" fmla="val 7075"/>
            </a:avLst>
          </a:prstGeom>
          <a:solidFill>
            <a:srgbClr val="FDFCF8"/>
          </a:solidFill>
          <a:ln/>
        </p:spPr>
      </p:sp>
      <p:sp>
        <p:nvSpPr>
          <p:cNvPr id="9" name="Shape 6"/>
          <p:cNvSpPr/>
          <p:nvPr/>
        </p:nvSpPr>
        <p:spPr>
          <a:xfrm>
            <a:off x="6400800" y="1447800"/>
            <a:ext cx="4978400" cy="1076960"/>
          </a:xfrm>
          <a:custGeom>
            <a:avLst/>
            <a:gdLst/>
            <a:ahLst/>
            <a:cxnLst/>
            <a:rect l="l" t="t" r="r" b="b"/>
            <a:pathLst>
              <a:path w="4978400" h="1076960">
                <a:moveTo>
                  <a:pt x="76200" y="1076960"/>
                </a:moveTo>
                <a:lnTo>
                  <a:pt x="76200" y="1076960"/>
                </a:lnTo>
                <a:arcTo hR="76200" wR="76200" stAng="5400000" swAng="5400000"/>
                <a:lnTo>
                  <a:pt x="0" y="76200"/>
                </a:lnTo>
                <a:arcTo hR="76200" wR="76200" stAng="10800000" swAng="5400000"/>
                <a:lnTo>
                  <a:pt x="76200" y="0"/>
                </a:lnTo>
                <a:arcTo hR="76200" wR="25400" stAng="16200000" swAng="-5400000"/>
                <a:lnTo>
                  <a:pt x="50800" y="1000760"/>
                </a:lnTo>
                <a:arcTo hR="76200" wR="25400" stAng="10800000" swAng="-5400000"/>
                <a:close/>
              </a:path>
            </a:pathLst>
          </a:custGeom>
          <a:solidFill>
            <a:srgbClr val="0E7C6B"/>
          </a:solidFill>
          <a:ln/>
        </p:spPr>
      </p:sp>
      <p:sp>
        <p:nvSpPr>
          <p:cNvPr id="10" name="Text 7"/>
          <p:cNvSpPr/>
          <p:nvPr/>
        </p:nvSpPr>
        <p:spPr>
          <a:xfrm>
            <a:off x="6629400" y="1625600"/>
            <a:ext cx="47091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The problem</a:t>
            </a:r>
            <a:endParaRPr lang="en-US" sz="1600" dirty="0"/>
          </a:p>
        </p:txBody>
      </p:sp>
      <p:sp>
        <p:nvSpPr>
          <p:cNvPr id="11" name="Text 8"/>
          <p:cNvSpPr/>
          <p:nvPr/>
        </p:nvSpPr>
        <p:spPr>
          <a:xfrm>
            <a:off x="6629400" y="1920240"/>
            <a:ext cx="47091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Pakistan has over 1.5 million deaf individuals, but PSL has almost no accessible, real-time translation tools.</a:t>
            </a:r>
            <a:endParaRPr lang="en-US" sz="1200" dirty="0"/>
          </a:p>
        </p:txBody>
      </p:sp>
      <p:sp>
        <p:nvSpPr>
          <p:cNvPr id="12" name="Shape 9"/>
          <p:cNvSpPr/>
          <p:nvPr/>
        </p:nvSpPr>
        <p:spPr>
          <a:xfrm>
            <a:off x="6400800" y="2677160"/>
            <a:ext cx="4978400" cy="1290320"/>
          </a:xfrm>
          <a:prstGeom prst="roundRect">
            <a:avLst>
              <a:gd name="adj" fmla="val 5906"/>
            </a:avLst>
          </a:prstGeom>
          <a:solidFill>
            <a:srgbClr val="FDFCF8"/>
          </a:solidFill>
          <a:ln/>
        </p:spPr>
      </p:sp>
      <p:sp>
        <p:nvSpPr>
          <p:cNvPr id="13" name="Shape 10"/>
          <p:cNvSpPr/>
          <p:nvPr/>
        </p:nvSpPr>
        <p:spPr>
          <a:xfrm>
            <a:off x="6400800" y="2677160"/>
            <a:ext cx="4978400" cy="1290320"/>
          </a:xfrm>
          <a:custGeom>
            <a:avLst/>
            <a:gdLst/>
            <a:ahLst/>
            <a:cxnLst/>
            <a:rect l="l" t="t" r="r" b="b"/>
            <a:pathLst>
              <a:path w="4978400" h="1290320">
                <a:moveTo>
                  <a:pt x="76200" y="1290320"/>
                </a:moveTo>
                <a:lnTo>
                  <a:pt x="76200" y="1290320"/>
                </a:lnTo>
                <a:arcTo hR="76200" wR="76200" stAng="5400000" swAng="5400000"/>
                <a:lnTo>
                  <a:pt x="0" y="76200"/>
                </a:lnTo>
                <a:arcTo hR="76200" wR="76200" stAng="10800000" swAng="5400000"/>
                <a:lnTo>
                  <a:pt x="76200" y="0"/>
                </a:lnTo>
                <a:arcTo hR="76200" wR="25400" stAng="16200000" swAng="-5400000"/>
                <a:lnTo>
                  <a:pt x="50800" y="1214120"/>
                </a:lnTo>
                <a:arcTo hR="76200" wR="25400" stAng="10800000" swAng="-5400000"/>
                <a:close/>
              </a:path>
            </a:pathLst>
          </a:custGeom>
          <a:solidFill>
            <a:srgbClr val="0E7C6B"/>
          </a:solidFill>
          <a:ln/>
        </p:spPr>
      </p:sp>
      <p:sp>
        <p:nvSpPr>
          <p:cNvPr id="14" name="Text 11"/>
          <p:cNvSpPr/>
          <p:nvPr/>
        </p:nvSpPr>
        <p:spPr>
          <a:xfrm>
            <a:off x="6629400" y="2854960"/>
            <a:ext cx="47091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Why past projects fell short</a:t>
            </a:r>
            <a:endParaRPr lang="en-US" sz="1600" dirty="0"/>
          </a:p>
        </p:txBody>
      </p:sp>
      <p:sp>
        <p:nvSpPr>
          <p:cNvPr id="15" name="Text 12"/>
          <p:cNvSpPr/>
          <p:nvPr/>
        </p:nvSpPr>
        <p:spPr>
          <a:xfrm>
            <a:off x="6629400" y="3149600"/>
            <a:ext cx="47091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Most student projects only recognize static alphabet letters (A, B, C) from photos. Real sign language is fluid, dynamic body motion.</a:t>
            </a:r>
            <a:endParaRPr lang="en-US" sz="1200" dirty="0"/>
          </a:p>
        </p:txBody>
      </p:sp>
      <p:sp>
        <p:nvSpPr>
          <p:cNvPr id="16" name="Shape 13"/>
          <p:cNvSpPr/>
          <p:nvPr/>
        </p:nvSpPr>
        <p:spPr>
          <a:xfrm>
            <a:off x="6400800" y="4119880"/>
            <a:ext cx="4978400" cy="1290320"/>
          </a:xfrm>
          <a:prstGeom prst="roundRect">
            <a:avLst>
              <a:gd name="adj" fmla="val 5906"/>
            </a:avLst>
          </a:prstGeom>
          <a:solidFill>
            <a:srgbClr val="FDFCF8"/>
          </a:solidFill>
          <a:ln/>
        </p:spPr>
      </p:sp>
      <p:sp>
        <p:nvSpPr>
          <p:cNvPr id="17" name="Shape 14"/>
          <p:cNvSpPr/>
          <p:nvPr/>
        </p:nvSpPr>
        <p:spPr>
          <a:xfrm>
            <a:off x="6400800" y="4119880"/>
            <a:ext cx="4978400" cy="1290320"/>
          </a:xfrm>
          <a:custGeom>
            <a:avLst/>
            <a:gdLst/>
            <a:ahLst/>
            <a:cxnLst/>
            <a:rect l="l" t="t" r="r" b="b"/>
            <a:pathLst>
              <a:path w="4978400" h="1290320">
                <a:moveTo>
                  <a:pt x="76200" y="1290320"/>
                </a:moveTo>
                <a:lnTo>
                  <a:pt x="76200" y="1290320"/>
                </a:lnTo>
                <a:arcTo hR="76200" wR="76200" stAng="5400000" swAng="5400000"/>
                <a:lnTo>
                  <a:pt x="0" y="76200"/>
                </a:lnTo>
                <a:arcTo hR="76200" wR="76200" stAng="10800000" swAng="5400000"/>
                <a:lnTo>
                  <a:pt x="76200" y="0"/>
                </a:lnTo>
                <a:arcTo hR="76200" wR="25400" stAng="16200000" swAng="-5400000"/>
                <a:lnTo>
                  <a:pt x="50800" y="1214120"/>
                </a:lnTo>
                <a:arcTo hR="76200" wR="25400" stAng="10800000" swAng="-5400000"/>
                <a:close/>
              </a:path>
            </a:pathLst>
          </a:custGeom>
          <a:solidFill>
            <a:srgbClr val="0E7C6B"/>
          </a:solidFill>
          <a:ln/>
        </p:spPr>
      </p:sp>
      <p:sp>
        <p:nvSpPr>
          <p:cNvPr id="18" name="Text 15"/>
          <p:cNvSpPr/>
          <p:nvPr/>
        </p:nvSpPr>
        <p:spPr>
          <a:xfrm>
            <a:off x="6629400" y="4297680"/>
            <a:ext cx="47091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The goal</a:t>
            </a:r>
            <a:endParaRPr lang="en-US" sz="1600" dirty="0"/>
          </a:p>
        </p:txBody>
      </p:sp>
      <p:sp>
        <p:nvSpPr>
          <p:cNvPr id="19" name="Text 16"/>
          <p:cNvSpPr/>
          <p:nvPr/>
        </p:nvSpPr>
        <p:spPr>
          <a:xfrm>
            <a:off x="6629400" y="4592320"/>
            <a:ext cx="47091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Build an assistive AI system that takes a live webcam feed of dynamic word signs and translates it instantly into spoken Urdu and text.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0F1B2D"/>
                </a:solidFill>
                <a:latin typeface="Rubik" pitchFamily="34" charset="0"/>
                <a:ea typeface="Rubik" pitchFamily="34" charset="-122"/>
                <a:cs typeface="Rubik" pitchFamily="34" charset="-120"/>
              </a:rPr>
              <a:t>Don’t Track Pixels — Track the Skeleton</a:t>
            </a:r>
            <a:endParaRPr lang="en-US" sz="3000" dirty="0"/>
          </a:p>
        </p:txBody>
      </p:sp>
      <p:sp>
        <p:nvSpPr>
          <p:cNvPr id="3" name="Text 1"/>
          <p:cNvSpPr/>
          <p:nvPr/>
        </p:nvSpPr>
        <p:spPr>
          <a:xfrm>
            <a:off x="812800" y="13271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7C6B"/>
                </a:solidFill>
                <a:latin typeface="DM Sans" pitchFamily="34" charset="0"/>
                <a:ea typeface="DM Sans" pitchFamily="34" charset="-122"/>
                <a:cs typeface="DM Sans" pitchFamily="34" charset="-120"/>
              </a:rPr>
              <a:t>Overcoming bad lighting, messy rooms and skin tone biases</a:t>
            </a:r>
            <a:endParaRPr lang="en-US" sz="1600" dirty="0"/>
          </a:p>
        </p:txBody>
      </p:sp>
      <p:pic>
        <p:nvPicPr>
          <p:cNvPr id="4" name="Image 0" descr="A messy room webcam view on the left becomes a clean skeleton of joints and bones on the right">    </p:cNvPr>
          <p:cNvPicPr>
            <a:picLocks noChangeAspect="1"/>
          </p:cNvPicPr>
          <p:nvPr/>
        </p:nvPicPr>
        <p:blipFill>
          <a:blip r:embed="rId1"/>
          <a:srcRect l="0" r="0" t="0" b="0"/>
          <a:stretch/>
        </p:blipFill>
        <p:spPr>
          <a:xfrm>
            <a:off x="812800" y="2363470"/>
            <a:ext cx="4826000" cy="2540000"/>
          </a:xfrm>
          <a:prstGeom prst="rect">
            <a:avLst/>
          </a:prstGeom>
        </p:spPr>
      </p:pic>
      <p:sp>
        <p:nvSpPr>
          <p:cNvPr id="5" name="Text 2"/>
          <p:cNvSpPr/>
          <p:nvPr/>
        </p:nvSpPr>
        <p:spPr>
          <a:xfrm>
            <a:off x="780415" y="5005070"/>
            <a:ext cx="222377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F1B2D"/>
                </a:solidFill>
                <a:latin typeface="DM Sans" pitchFamily="34" charset="0"/>
                <a:ea typeface="DM Sans" pitchFamily="34" charset="-122"/>
                <a:cs typeface="DM Sans" pitchFamily="34" charset="-120"/>
              </a:rPr>
              <a:t>Raw webcam pixels</a:t>
            </a:r>
            <a:endParaRPr lang="en-US" sz="1200" dirty="0"/>
          </a:p>
        </p:txBody>
      </p:sp>
      <p:sp>
        <p:nvSpPr>
          <p:cNvPr id="6" name="Text 3"/>
          <p:cNvSpPr/>
          <p:nvPr/>
        </p:nvSpPr>
        <p:spPr>
          <a:xfrm>
            <a:off x="3447415" y="5005070"/>
            <a:ext cx="222377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F1B2D"/>
                </a:solidFill>
                <a:latin typeface="DM Sans" pitchFamily="34" charset="0"/>
                <a:ea typeface="DM Sans" pitchFamily="34" charset="-122"/>
                <a:cs typeface="DM Sans" pitchFamily="34" charset="-120"/>
              </a:rPr>
              <a:t>3D skeleton keypoints</a:t>
            </a:r>
            <a:endParaRPr lang="en-US" sz="1200" dirty="0"/>
          </a:p>
        </p:txBody>
      </p:sp>
      <p:sp>
        <p:nvSpPr>
          <p:cNvPr id="7" name="Shape 4"/>
          <p:cNvSpPr/>
          <p:nvPr/>
        </p:nvSpPr>
        <p:spPr>
          <a:xfrm>
            <a:off x="6146800" y="1916430"/>
            <a:ext cx="5232400" cy="1076960"/>
          </a:xfrm>
          <a:prstGeom prst="roundRect">
            <a:avLst>
              <a:gd name="adj" fmla="val 7075"/>
            </a:avLst>
          </a:prstGeom>
          <a:solidFill>
            <a:srgbClr val="FDFCF8"/>
          </a:solidFill>
          <a:ln/>
        </p:spPr>
      </p:sp>
      <p:sp>
        <p:nvSpPr>
          <p:cNvPr id="8" name="Shape 5"/>
          <p:cNvSpPr/>
          <p:nvPr/>
        </p:nvSpPr>
        <p:spPr>
          <a:xfrm>
            <a:off x="6146800" y="1916430"/>
            <a:ext cx="5232400" cy="1076960"/>
          </a:xfrm>
          <a:custGeom>
            <a:avLst/>
            <a:gdLst/>
            <a:ahLst/>
            <a:cxnLst/>
            <a:rect l="l" t="t" r="r" b="b"/>
            <a:pathLst>
              <a:path w="5232400" h="1076960">
                <a:moveTo>
                  <a:pt x="76200" y="1076960"/>
                </a:moveTo>
                <a:lnTo>
                  <a:pt x="76200" y="1076960"/>
                </a:lnTo>
                <a:arcTo hR="76200" wR="76200" stAng="5400000" swAng="5400000"/>
                <a:lnTo>
                  <a:pt x="0" y="76200"/>
                </a:lnTo>
                <a:arcTo hR="76200" wR="76200" stAng="10800000" swAng="5400000"/>
                <a:lnTo>
                  <a:pt x="76200" y="0"/>
                </a:lnTo>
                <a:arcTo hR="76200" wR="25400" stAng="16200000" swAng="-5400000"/>
                <a:lnTo>
                  <a:pt x="50800" y="1000760"/>
                </a:lnTo>
                <a:arcTo hR="76200" wR="25400" stAng="10800000" swAng="-5400000"/>
                <a:close/>
              </a:path>
            </a:pathLst>
          </a:custGeom>
          <a:solidFill>
            <a:srgbClr val="0E7C6B"/>
          </a:solidFill>
          <a:ln/>
        </p:spPr>
      </p:sp>
      <p:sp>
        <p:nvSpPr>
          <p:cNvPr id="9" name="Text 6"/>
          <p:cNvSpPr/>
          <p:nvPr/>
        </p:nvSpPr>
        <p:spPr>
          <a:xfrm>
            <a:off x="6375400" y="2094230"/>
            <a:ext cx="49707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Step 1: Throw away the background</a:t>
            </a:r>
            <a:endParaRPr lang="en-US" sz="1600" dirty="0"/>
          </a:p>
        </p:txBody>
      </p:sp>
      <p:sp>
        <p:nvSpPr>
          <p:cNvPr id="10" name="Text 7"/>
          <p:cNvSpPr/>
          <p:nvPr/>
        </p:nvSpPr>
        <p:spPr>
          <a:xfrm>
            <a:off x="6375400" y="2388870"/>
            <a:ext cx="49707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MediaPipe pulls 3D coordinates of fingers, hands and upper-body joints. It ignores wall clutter, lighting, skin color and wristwatches.</a:t>
            </a:r>
            <a:endParaRPr lang="en-US" sz="1200" dirty="0"/>
          </a:p>
        </p:txBody>
      </p:sp>
      <p:sp>
        <p:nvSpPr>
          <p:cNvPr id="11" name="Shape 8"/>
          <p:cNvSpPr/>
          <p:nvPr/>
        </p:nvSpPr>
        <p:spPr>
          <a:xfrm>
            <a:off x="6146800" y="3145790"/>
            <a:ext cx="5232400" cy="1290320"/>
          </a:xfrm>
          <a:prstGeom prst="roundRect">
            <a:avLst>
              <a:gd name="adj" fmla="val 5906"/>
            </a:avLst>
          </a:prstGeom>
          <a:solidFill>
            <a:srgbClr val="FDFCF8"/>
          </a:solidFill>
          <a:ln/>
        </p:spPr>
      </p:sp>
      <p:sp>
        <p:nvSpPr>
          <p:cNvPr id="12" name="Shape 9"/>
          <p:cNvSpPr/>
          <p:nvPr/>
        </p:nvSpPr>
        <p:spPr>
          <a:xfrm>
            <a:off x="6146800" y="3145790"/>
            <a:ext cx="5232400" cy="1290320"/>
          </a:xfrm>
          <a:custGeom>
            <a:avLst/>
            <a:gdLst/>
            <a:ahLst/>
            <a:cxnLst/>
            <a:rect l="l" t="t" r="r" b="b"/>
            <a:pathLst>
              <a:path w="5232400" h="1290320">
                <a:moveTo>
                  <a:pt x="76200" y="1290320"/>
                </a:moveTo>
                <a:lnTo>
                  <a:pt x="76200" y="1290320"/>
                </a:lnTo>
                <a:arcTo hR="76200" wR="76200" stAng="5400000" swAng="5400000"/>
                <a:lnTo>
                  <a:pt x="0" y="76200"/>
                </a:lnTo>
                <a:arcTo hR="76200" wR="76200" stAng="10800000" swAng="5400000"/>
                <a:lnTo>
                  <a:pt x="76200" y="0"/>
                </a:lnTo>
                <a:arcTo hR="76200" wR="25400" stAng="16200000" swAng="-5400000"/>
                <a:lnTo>
                  <a:pt x="50800" y="1214120"/>
                </a:lnTo>
                <a:arcTo hR="76200" wR="25400" stAng="10800000" swAng="-5400000"/>
                <a:close/>
              </a:path>
            </a:pathLst>
          </a:custGeom>
          <a:solidFill>
            <a:srgbClr val="0E7C6B"/>
          </a:solidFill>
          <a:ln/>
        </p:spPr>
      </p:sp>
      <p:sp>
        <p:nvSpPr>
          <p:cNvPr id="13" name="Text 10"/>
          <p:cNvSpPr/>
          <p:nvPr/>
        </p:nvSpPr>
        <p:spPr>
          <a:xfrm>
            <a:off x="6375400" y="3323590"/>
            <a:ext cx="49707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Step 2: Connect the dots</a:t>
            </a:r>
            <a:endParaRPr lang="en-US" sz="1600" dirty="0"/>
          </a:p>
        </p:txBody>
      </p:sp>
      <p:sp>
        <p:nvSpPr>
          <p:cNvPr id="14" name="Text 11"/>
          <p:cNvSpPr/>
          <p:nvPr/>
        </p:nvSpPr>
        <p:spPr>
          <a:xfrm>
            <a:off x="6375400" y="3618230"/>
            <a:ext cx="497078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A graph neural network (ST-GCN) treats the body as joints and bones, then tracks how they move over time for velocity and motion paths.</a:t>
            </a:r>
            <a:endParaRPr lang="en-US" sz="1200" dirty="0"/>
          </a:p>
        </p:txBody>
      </p:sp>
      <p:sp>
        <p:nvSpPr>
          <p:cNvPr id="15" name="Shape 12"/>
          <p:cNvSpPr/>
          <p:nvPr/>
        </p:nvSpPr>
        <p:spPr>
          <a:xfrm>
            <a:off x="6146800" y="4588510"/>
            <a:ext cx="5232400" cy="1076960"/>
          </a:xfrm>
          <a:prstGeom prst="roundRect">
            <a:avLst>
              <a:gd name="adj" fmla="val 7075"/>
            </a:avLst>
          </a:prstGeom>
          <a:solidFill>
            <a:srgbClr val="FDFCF8"/>
          </a:solidFill>
          <a:ln/>
        </p:spPr>
      </p:sp>
      <p:sp>
        <p:nvSpPr>
          <p:cNvPr id="16" name="Shape 13"/>
          <p:cNvSpPr/>
          <p:nvPr/>
        </p:nvSpPr>
        <p:spPr>
          <a:xfrm>
            <a:off x="6146800" y="4588510"/>
            <a:ext cx="5232400" cy="1076960"/>
          </a:xfrm>
          <a:custGeom>
            <a:avLst/>
            <a:gdLst/>
            <a:ahLst/>
            <a:cxnLst/>
            <a:rect l="l" t="t" r="r" b="b"/>
            <a:pathLst>
              <a:path w="5232400" h="1076960">
                <a:moveTo>
                  <a:pt x="76200" y="1076960"/>
                </a:moveTo>
                <a:lnTo>
                  <a:pt x="76200" y="1076960"/>
                </a:lnTo>
                <a:arcTo hR="76200" wR="76200" stAng="5400000" swAng="5400000"/>
                <a:lnTo>
                  <a:pt x="0" y="76200"/>
                </a:lnTo>
                <a:arcTo hR="76200" wR="76200" stAng="10800000" swAng="5400000"/>
                <a:lnTo>
                  <a:pt x="76200" y="0"/>
                </a:lnTo>
                <a:arcTo hR="76200" wR="25400" stAng="16200000" swAng="-5400000"/>
                <a:lnTo>
                  <a:pt x="50800" y="1000760"/>
                </a:lnTo>
                <a:arcTo hR="76200" wR="25400" stAng="10800000" swAng="-5400000"/>
                <a:close/>
              </a:path>
            </a:pathLst>
          </a:custGeom>
          <a:solidFill>
            <a:srgbClr val="0E7C6B"/>
          </a:solidFill>
          <a:ln/>
        </p:spPr>
      </p:sp>
      <p:sp>
        <p:nvSpPr>
          <p:cNvPr id="17" name="Text 14"/>
          <p:cNvSpPr/>
          <p:nvPr/>
        </p:nvSpPr>
        <p:spPr>
          <a:xfrm>
            <a:off x="6375400" y="4766310"/>
            <a:ext cx="49707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Step 3: Instant translation</a:t>
            </a:r>
            <a:endParaRPr lang="en-US" sz="1600" dirty="0"/>
          </a:p>
        </p:txBody>
      </p:sp>
      <p:sp>
        <p:nvSpPr>
          <p:cNvPr id="18" name="Text 15"/>
          <p:cNvSpPr/>
          <p:nvPr/>
        </p:nvSpPr>
        <p:spPr>
          <a:xfrm>
            <a:off x="6375400" y="5060950"/>
            <a:ext cx="49707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The recognized sign comes out as Urdu text, and a local text-to-speech engine speaks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0F1B2D"/>
                </a:solidFill>
                <a:latin typeface="Rubik" pitchFamily="34" charset="0"/>
                <a:ea typeface="Rubik" pitchFamily="34" charset="-122"/>
                <a:cs typeface="Rubik" pitchFamily="34" charset="-120"/>
              </a:rPr>
              <a:t>12-Week Scope &amp; Deliverables</a:t>
            </a:r>
            <a:endParaRPr lang="en-US" sz="3000" dirty="0"/>
          </a:p>
        </p:txBody>
      </p:sp>
      <p:sp>
        <p:nvSpPr>
          <p:cNvPr id="3" name="Text 1"/>
          <p:cNvSpPr/>
          <p:nvPr/>
        </p:nvSpPr>
        <p:spPr>
          <a:xfrm>
            <a:off x="812800" y="13271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7C6B"/>
                </a:solidFill>
                <a:latin typeface="DM Sans" pitchFamily="34" charset="0"/>
                <a:ea typeface="DM Sans" pitchFamily="34" charset="-122"/>
                <a:cs typeface="DM Sans" pitchFamily="34" charset="-120"/>
              </a:rPr>
              <a:t>Realistic milestones, real-world data, live demonstration</a:t>
            </a:r>
            <a:endParaRPr lang="en-US" sz="1600" dirty="0"/>
          </a:p>
        </p:txBody>
      </p:sp>
      <p:sp>
        <p:nvSpPr>
          <p:cNvPr id="4" name="Shape 2"/>
          <p:cNvSpPr/>
          <p:nvPr/>
        </p:nvSpPr>
        <p:spPr>
          <a:xfrm>
            <a:off x="812800" y="1967230"/>
            <a:ext cx="3115733" cy="2981960"/>
          </a:xfrm>
          <a:prstGeom prst="roundRect">
            <a:avLst>
              <a:gd name="adj" fmla="val 2555"/>
            </a:avLst>
          </a:prstGeom>
          <a:solidFill>
            <a:srgbClr val="FDFCF8"/>
          </a:solidFill>
          <a:ln/>
        </p:spPr>
      </p:sp>
      <p:sp>
        <p:nvSpPr>
          <p:cNvPr id="5" name="Shape 3"/>
          <p:cNvSpPr/>
          <p:nvPr/>
        </p:nvSpPr>
        <p:spPr>
          <a:xfrm>
            <a:off x="812800" y="1967230"/>
            <a:ext cx="3115733" cy="2981960"/>
          </a:xfrm>
          <a:custGeom>
            <a:avLst/>
            <a:gdLst/>
            <a:ahLst/>
            <a:cxnLst/>
            <a:rect l="l" t="t" r="r" b="b"/>
            <a:pathLst>
              <a:path w="3115733" h="2981960">
                <a:moveTo>
                  <a:pt x="76200" y="2981960"/>
                </a:moveTo>
                <a:lnTo>
                  <a:pt x="76200" y="2981960"/>
                </a:lnTo>
                <a:arcTo hR="76200" wR="76200" stAng="5400000" swAng="5400000"/>
                <a:lnTo>
                  <a:pt x="0" y="76200"/>
                </a:lnTo>
                <a:arcTo hR="76200" wR="76200" stAng="10800000" swAng="5400000"/>
                <a:lnTo>
                  <a:pt x="76200" y="0"/>
                </a:lnTo>
                <a:arcTo hR="76200" wR="25400" stAng="16200000" swAng="-5400000"/>
                <a:lnTo>
                  <a:pt x="50800" y="2905760"/>
                </a:lnTo>
                <a:arcTo hR="76200" wR="25400" stAng="10800000" swAng="-5400000"/>
                <a:close/>
              </a:path>
            </a:pathLst>
          </a:custGeom>
          <a:solidFill>
            <a:srgbClr val="0E7C6B"/>
          </a:solidFill>
          <a:ln/>
        </p:spPr>
      </p:sp>
      <p:sp>
        <p:nvSpPr>
          <p:cNvPr id="6" name="Text 4"/>
          <p:cNvSpPr/>
          <p:nvPr/>
        </p:nvSpPr>
        <p:spPr>
          <a:xfrm>
            <a:off x="1092200" y="2195830"/>
            <a:ext cx="2685965"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7C6B"/>
                </a:solidFill>
                <a:latin typeface="Rubik" pitchFamily="34" charset="0"/>
                <a:ea typeface="Rubik" pitchFamily="34" charset="-122"/>
                <a:cs typeface="Rubik" pitchFamily="34" charset="-120"/>
              </a:rPr>
              <a:t>01</a:t>
            </a:r>
            <a:endParaRPr lang="en-US" sz="2200" dirty="0"/>
          </a:p>
        </p:txBody>
      </p:sp>
      <p:sp>
        <p:nvSpPr>
          <p:cNvPr id="7" name="Text 5"/>
          <p:cNvSpPr/>
          <p:nvPr/>
        </p:nvSpPr>
        <p:spPr>
          <a:xfrm>
            <a:off x="1092200" y="2592070"/>
            <a:ext cx="26859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Data &amp; Words</a:t>
            </a:r>
            <a:endParaRPr lang="en-US" sz="1600" dirty="0"/>
          </a:p>
        </p:txBody>
      </p:sp>
      <p:sp>
        <p:nvSpPr>
          <p:cNvPr id="8" name="Text 6"/>
          <p:cNvSpPr/>
          <p:nvPr/>
        </p:nvSpPr>
        <p:spPr>
          <a:xfrm>
            <a:off x="1092200" y="2924811"/>
            <a:ext cx="2685965"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15–20 dynamic signs for essential phrases: greetings (“Assalam-o-Alaikum”), emergencies (“Help”, “Doctor”) and everyday needs (“Water”, “Thank you”).</a:t>
            </a:r>
            <a:endParaRPr lang="en-US" sz="1200" dirty="0"/>
          </a:p>
        </p:txBody>
      </p:sp>
      <p:sp>
        <p:nvSpPr>
          <p:cNvPr id="9" name="Text 7"/>
          <p:cNvSpPr/>
          <p:nvPr/>
        </p:nvSpPr>
        <p:spPr>
          <a:xfrm>
            <a:off x="1092200" y="4080511"/>
            <a:ext cx="26859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Sourced from the Deaf Reach Pakistan portal (psl.org.pk) and academic PSL datasets.</a:t>
            </a:r>
            <a:endParaRPr lang="en-US" sz="1200" dirty="0"/>
          </a:p>
        </p:txBody>
      </p:sp>
      <p:pic>
        <p:nvPicPr>
          <p:cNvPr id="10" name="Image 0" descr="arrow-right">    </p:cNvPr>
          <p:cNvPicPr>
            <a:picLocks noChangeAspect="1"/>
          </p:cNvPicPr>
          <p:nvPr/>
        </p:nvPicPr>
        <p:blipFill>
          <a:blip r:embed="rId1"/>
          <a:srcRect l="0" r="0" t="0" b="0"/>
          <a:stretch/>
        </p:blipFill>
        <p:spPr>
          <a:xfrm>
            <a:off x="4055533" y="3369311"/>
            <a:ext cx="355600" cy="177800"/>
          </a:xfrm>
          <a:prstGeom prst="rect">
            <a:avLst/>
          </a:prstGeom>
        </p:spPr>
      </p:pic>
      <p:sp>
        <p:nvSpPr>
          <p:cNvPr id="11" name="Shape 8"/>
          <p:cNvSpPr/>
          <p:nvPr/>
        </p:nvSpPr>
        <p:spPr>
          <a:xfrm>
            <a:off x="4538133" y="1967230"/>
            <a:ext cx="3115733" cy="2981960"/>
          </a:xfrm>
          <a:prstGeom prst="roundRect">
            <a:avLst>
              <a:gd name="adj" fmla="val 2555"/>
            </a:avLst>
          </a:prstGeom>
          <a:solidFill>
            <a:srgbClr val="FDFCF8"/>
          </a:solidFill>
          <a:ln/>
        </p:spPr>
      </p:sp>
      <p:sp>
        <p:nvSpPr>
          <p:cNvPr id="12" name="Shape 9"/>
          <p:cNvSpPr/>
          <p:nvPr/>
        </p:nvSpPr>
        <p:spPr>
          <a:xfrm>
            <a:off x="4538133" y="1967230"/>
            <a:ext cx="3115733" cy="2981960"/>
          </a:xfrm>
          <a:custGeom>
            <a:avLst/>
            <a:gdLst/>
            <a:ahLst/>
            <a:cxnLst/>
            <a:rect l="l" t="t" r="r" b="b"/>
            <a:pathLst>
              <a:path w="3115733" h="2981960">
                <a:moveTo>
                  <a:pt x="76200" y="2981960"/>
                </a:moveTo>
                <a:lnTo>
                  <a:pt x="76200" y="2981960"/>
                </a:lnTo>
                <a:arcTo hR="76200" wR="76200" stAng="5400000" swAng="5400000"/>
                <a:lnTo>
                  <a:pt x="0" y="76200"/>
                </a:lnTo>
                <a:arcTo hR="76200" wR="76200" stAng="10800000" swAng="5400000"/>
                <a:lnTo>
                  <a:pt x="76200" y="0"/>
                </a:lnTo>
                <a:arcTo hR="76200" wR="25400" stAng="16200000" swAng="-5400000"/>
                <a:lnTo>
                  <a:pt x="50800" y="2905760"/>
                </a:lnTo>
                <a:arcTo hR="76200" wR="25400" stAng="10800000" swAng="-5400000"/>
                <a:close/>
              </a:path>
            </a:pathLst>
          </a:custGeom>
          <a:solidFill>
            <a:srgbClr val="0E7C6B"/>
          </a:solidFill>
          <a:ln/>
        </p:spPr>
      </p:sp>
      <p:sp>
        <p:nvSpPr>
          <p:cNvPr id="13" name="Text 10"/>
          <p:cNvSpPr/>
          <p:nvPr/>
        </p:nvSpPr>
        <p:spPr>
          <a:xfrm>
            <a:off x="4817533" y="2195830"/>
            <a:ext cx="2685965"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7C6B"/>
                </a:solidFill>
                <a:latin typeface="Rubik" pitchFamily="34" charset="0"/>
                <a:ea typeface="Rubik" pitchFamily="34" charset="-122"/>
                <a:cs typeface="Rubik" pitchFamily="34" charset="-120"/>
              </a:rPr>
              <a:t>02</a:t>
            </a:r>
            <a:endParaRPr lang="en-US" sz="2200" dirty="0"/>
          </a:p>
        </p:txBody>
      </p:sp>
      <p:sp>
        <p:nvSpPr>
          <p:cNvPr id="14" name="Text 11"/>
          <p:cNvSpPr/>
          <p:nvPr/>
        </p:nvSpPr>
        <p:spPr>
          <a:xfrm>
            <a:off x="4817533" y="2592070"/>
            <a:ext cx="26859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Hardware &amp; Training</a:t>
            </a:r>
            <a:endParaRPr lang="en-US" sz="1600" dirty="0"/>
          </a:p>
        </p:txBody>
      </p:sp>
      <p:sp>
        <p:nvSpPr>
          <p:cNvPr id="15" name="Text 12"/>
          <p:cNvSpPr/>
          <p:nvPr/>
        </p:nvSpPr>
        <p:spPr>
          <a:xfrm>
            <a:off x="4817533" y="2924811"/>
            <a:ext cx="26859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The model is trained locally on a desktop GPU (GTX 1660 Super), so iteration stays fast.</a:t>
            </a:r>
            <a:endParaRPr lang="en-US" sz="1200" dirty="0"/>
          </a:p>
        </p:txBody>
      </p:sp>
      <p:sp>
        <p:nvSpPr>
          <p:cNvPr id="16" name="Text 13"/>
          <p:cNvSpPr/>
          <p:nvPr/>
        </p:nvSpPr>
        <p:spPr>
          <a:xfrm>
            <a:off x="4817533" y="3653789"/>
            <a:ext cx="26859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DM Sans" pitchFamily="34" charset="0"/>
                <a:ea typeface="DM Sans" pitchFamily="34" charset="-122"/>
                <a:cs typeface="DM Sans" pitchFamily="34" charset="-120"/>
              </a:rPr>
              <a:t>Edge inference runs smoothly at 30+ FPS on a MacBook Pro.</a:t>
            </a:r>
            <a:endParaRPr lang="en-US" sz="1200" dirty="0"/>
          </a:p>
        </p:txBody>
      </p:sp>
      <p:pic>
        <p:nvPicPr>
          <p:cNvPr id="17" name="Image 1" descr="arrow-right">    </p:cNvPr>
          <p:cNvPicPr>
            <a:picLocks noChangeAspect="1"/>
          </p:cNvPicPr>
          <p:nvPr/>
        </p:nvPicPr>
        <p:blipFill>
          <a:blip r:embed="rId2"/>
          <a:srcRect l="0" r="0" t="0" b="0"/>
          <a:stretch/>
        </p:blipFill>
        <p:spPr>
          <a:xfrm>
            <a:off x="7780867" y="3369311"/>
            <a:ext cx="355600" cy="177800"/>
          </a:xfrm>
          <a:prstGeom prst="rect">
            <a:avLst/>
          </a:prstGeom>
        </p:spPr>
      </p:pic>
      <p:sp>
        <p:nvSpPr>
          <p:cNvPr id="18" name="Shape 14"/>
          <p:cNvSpPr/>
          <p:nvPr/>
        </p:nvSpPr>
        <p:spPr>
          <a:xfrm>
            <a:off x="8263467" y="1967230"/>
            <a:ext cx="3115733" cy="2981960"/>
          </a:xfrm>
          <a:prstGeom prst="roundRect">
            <a:avLst>
              <a:gd name="adj" fmla="val 2555"/>
            </a:avLst>
          </a:prstGeom>
          <a:solidFill>
            <a:srgbClr val="FDFCF8"/>
          </a:solidFill>
          <a:ln/>
        </p:spPr>
      </p:sp>
      <p:sp>
        <p:nvSpPr>
          <p:cNvPr id="19" name="Shape 15"/>
          <p:cNvSpPr/>
          <p:nvPr/>
        </p:nvSpPr>
        <p:spPr>
          <a:xfrm>
            <a:off x="8263467" y="1967230"/>
            <a:ext cx="3115733" cy="2981960"/>
          </a:xfrm>
          <a:custGeom>
            <a:avLst/>
            <a:gdLst/>
            <a:ahLst/>
            <a:cxnLst/>
            <a:rect l="l" t="t" r="r" b="b"/>
            <a:pathLst>
              <a:path w="3115733" h="2981960">
                <a:moveTo>
                  <a:pt x="76200" y="2981960"/>
                </a:moveTo>
                <a:lnTo>
                  <a:pt x="76200" y="2981960"/>
                </a:lnTo>
                <a:arcTo hR="76200" wR="76200" stAng="5400000" swAng="5400000"/>
                <a:lnTo>
                  <a:pt x="0" y="76200"/>
                </a:lnTo>
                <a:arcTo hR="76200" wR="76200" stAng="10800000" swAng="5400000"/>
                <a:lnTo>
                  <a:pt x="76200" y="0"/>
                </a:lnTo>
                <a:arcTo hR="76200" wR="25400" stAng="16200000" swAng="-5400000"/>
                <a:lnTo>
                  <a:pt x="50800" y="2905760"/>
                </a:lnTo>
                <a:arcTo hR="76200" wR="25400" stAng="10800000" swAng="-5400000"/>
                <a:close/>
              </a:path>
            </a:pathLst>
          </a:custGeom>
          <a:solidFill>
            <a:srgbClr val="0E7C6B"/>
          </a:solidFill>
          <a:ln/>
        </p:spPr>
      </p:sp>
      <p:sp>
        <p:nvSpPr>
          <p:cNvPr id="20" name="Text 16"/>
          <p:cNvSpPr/>
          <p:nvPr/>
        </p:nvSpPr>
        <p:spPr>
          <a:xfrm>
            <a:off x="8542867" y="2195830"/>
            <a:ext cx="2685965"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7C6B"/>
                </a:solidFill>
                <a:latin typeface="Rubik" pitchFamily="34" charset="0"/>
                <a:ea typeface="Rubik" pitchFamily="34" charset="-122"/>
                <a:cs typeface="Rubik" pitchFamily="34" charset="-120"/>
              </a:rPr>
              <a:t>03</a:t>
            </a:r>
            <a:endParaRPr lang="en-US" sz="2200" dirty="0"/>
          </a:p>
        </p:txBody>
      </p:sp>
      <p:sp>
        <p:nvSpPr>
          <p:cNvPr id="21" name="Text 17"/>
          <p:cNvSpPr/>
          <p:nvPr/>
        </p:nvSpPr>
        <p:spPr>
          <a:xfrm>
            <a:off x="8542867" y="2592070"/>
            <a:ext cx="26859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Final Live Demo</a:t>
            </a:r>
            <a:endParaRPr lang="en-US" sz="1600" dirty="0"/>
          </a:p>
        </p:txBody>
      </p:sp>
      <p:sp>
        <p:nvSpPr>
          <p:cNvPr id="22" name="Text 18"/>
          <p:cNvSpPr/>
          <p:nvPr/>
        </p:nvSpPr>
        <p:spPr>
          <a:xfrm>
            <a:off x="8542867" y="2924811"/>
            <a:ext cx="26859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B2D"/>
                </a:solidFill>
                <a:latin typeface="DM Sans" pitchFamily="34" charset="0"/>
                <a:ea typeface="DM Sans" pitchFamily="34" charset="-122"/>
                <a:cs typeface="DM Sans" pitchFamily="34" charset="-120"/>
              </a:rPr>
              <a:t>A live in-class demonstration.</a:t>
            </a:r>
            <a:endParaRPr lang="en-US" sz="1200" dirty="0"/>
          </a:p>
        </p:txBody>
      </p:sp>
      <p:sp>
        <p:nvSpPr>
          <p:cNvPr id="23" name="Text 19"/>
          <p:cNvSpPr/>
          <p:nvPr/>
        </p:nvSpPr>
        <p:spPr>
          <a:xfrm>
            <a:off x="8542867" y="3227070"/>
            <a:ext cx="26859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B2D"/>
                </a:solidFill>
                <a:latin typeface="DM Sans" pitchFamily="34" charset="0"/>
                <a:ea typeface="DM Sans" pitchFamily="34" charset="-122"/>
                <a:cs typeface="DM Sans" pitchFamily="34" charset="-120"/>
              </a:rPr>
              <a:t>Sign a full phrase to the laptop and have it speak the Urdu translation in real time.</a:t>
            </a:r>
            <a:endParaRPr lang="en-US" sz="1200" dirty="0"/>
          </a:p>
        </p:txBody>
      </p:sp>
    </p:spTree>
  </p:cSld>
  <p:clrMapOvr>
    <a:masterClrMapping/>
  </p:clrMapOvr>
</p:sld>
</file>

<file path=ppt/theme/theme1.xml><?xml version="1.0" encoding="utf-8"?>
<a:theme xmlns:a="http://schemas.openxmlformats.org/drawingml/2006/main" name="Real-Time PSL Translator">
  <a:themeElements>
    <a:clrScheme name="Real-Time PSL Translator">
      <a:dk1>
        <a:srgbClr val="0F1B2D"/>
      </a:dk1>
      <a:lt1>
        <a:srgbClr val="F6F4EE"/>
      </a:lt1>
      <a:dk2>
        <a:srgbClr val="49515D"/>
      </a:dk2>
      <a:lt2>
        <a:srgbClr val="DFDEDB"/>
      </a:lt2>
      <a:accent1>
        <a:srgbClr val="0E7C6B"/>
      </a:accent1>
      <a:accent2>
        <a:srgbClr val="3A4A5E"/>
      </a:accent2>
      <a:accent3>
        <a:srgbClr val="9AA0A6"/>
      </a:accent3>
      <a:accent4>
        <a:srgbClr val="6B727A"/>
      </a:accent4>
      <a:accent5>
        <a:srgbClr val="8E9297"/>
      </a:accent5>
      <a:accent6>
        <a:srgbClr val="B1B3B4"/>
      </a:accent6>
      <a:hlink>
        <a:srgbClr val="0563C1"/>
      </a:hlink>
      <a:folHlink>
        <a:srgbClr val="954F72"/>
      </a:folHlink>
    </a:clrScheme>
    <a:fontScheme name="Real-Time PSL Translator">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PSL Translator</dc:title>
  <dc:subject/>
  <dc:creator/>
  <cp:lastModifiedBy/>
  <cp:revision>1</cp:revision>
  <dcterms:created xsi:type="dcterms:W3CDTF">2026-10-15T13:56:46Z</dcterms:created>
  <dcterms:modified xsi:type="dcterms:W3CDTF">2026-10-15T13:56:46Z</dcterms:modified>
</cp:coreProperties>
</file>